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by contrasting RAG with a plain language model: both generate text, but RAG adds an explicit lookup step before answering. Use a simple analogy like an open-book exam, then walk through the two stages—retrieve, then generate. Emphasize that RAG does not guarantee truth; it gives the model better context to work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a concrete intuition: picture every sentence plotted on a map where nearby points mean similar meaning, and embeddings are the coordinates on that map. Emphasize that no single number in a vector has a clear meaning on its own; only relative distances between vectors matter. A quick check for understanding is to ask why keyword search would miss a paraphrase that similarity search catches. If time allows, note that large collections use approximate nearest-neighbor indexes so retrieval stays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by explaining that chunking happens before embedding, so it decides what the retriever can ever find. Walk through the progression from simple fixed-size splitting to structure-aware approaches, and stress that there is no single best setting. Use a concrete example, such as a policy document, to show how a bad split can separate a question from its answer. Encourage students to test a couple of chunk sizes against a small set of real questions rather than guessing.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Begin by contrasting a faithful answer with a correct but unsupported one, so students see why retrieval context is the reference. Then demonstrate a simple claim-checking workflow on a short answer. Close by noting that automatic judges are useful for scale but should be validated against human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F172A"/>
                </a:solidFill>
                <a:latin typeface="Arial"/>
              </a:rPr>
              <a:t>Intro to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64748B"/>
                </a:solidFill>
                <a:latin typeface="Arial"/>
              </a:rPr>
              <a:t>Generated by Edezee · 2026-10-27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F172A"/>
                </a:solidFill>
                <a:latin typeface="Arial"/>
              </a:rPr>
              <a:t>What Is Retrieval-Augmented Generation (RAG)?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b="0">
                <a:solidFill>
                  <a:srgbClr val="0F172A"/>
                </a:solidFill>
                <a:latin typeface="Arial"/>
              </a:rPr>
              <a:t>•  RAG combines a language model with a search step that fetches relevant text from an external knowledge source.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0F172A"/>
                </a:solidFill>
                <a:latin typeface="Arial"/>
              </a:rPr>
              <a:t>•  The retriever finds passages related to the user's query, often using embeddings and vector similarity search.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0F172A"/>
                </a:solidFill>
                <a:latin typeface="Arial"/>
              </a:rPr>
              <a:t>•  The generator then writes an answer conditioned on both the question and the retrieved passages.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0F172A"/>
                </a:solidFill>
                <a:latin typeface="Arial"/>
              </a:rPr>
              <a:t>•  This can improve factual grounding and let models use private or up-to-date documents without retraining.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0F172A"/>
                </a:solidFill>
                <a:latin typeface="Arial"/>
              </a:rPr>
              <a:t>•  RAG answers can still be wrong if retrieval misses key evidence or the model misreads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F172A"/>
                </a:solidFill>
                <a:latin typeface="Arial"/>
              </a:rPr>
              <a:t>Vector Embeddings and Similarity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b="0">
                <a:solidFill>
                  <a:srgbClr val="0F172A"/>
                </a:solidFill>
                <a:latin typeface="Arial"/>
              </a:rPr>
              <a:t>•  An embedding turns text into a fixed-length list of numbers, called a vector, that represents its meaning.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0F172A"/>
                </a:solidFill>
                <a:latin typeface="Arial"/>
              </a:rPr>
              <a:t>•  Texts with similar meaning get vectors that sit close together in that high-dimensional space.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0F172A"/>
                </a:solidFill>
                <a:latin typeface="Arial"/>
              </a:rPr>
              <a:t>•  Embedding models are trained on large text corpora so related passages end up near each other.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0F172A"/>
                </a:solidFill>
                <a:latin typeface="Arial"/>
              </a:rPr>
              <a:t>•  Similarity is scored with measures such as cosine similarity or the dot product between two vectors.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0F172A"/>
                </a:solidFill>
                <a:latin typeface="Arial"/>
              </a:rPr>
              <a:t>•  At query time the question is embedded, and the nearest stored vectors are retrieved as context.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F172A"/>
                </a:solidFill>
                <a:latin typeface="Arial"/>
              </a:rPr>
              <a:t>Chunking Strategies for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b="0">
                <a:solidFill>
                  <a:srgbClr val="0F172A"/>
                </a:solidFill>
                <a:latin typeface="Arial"/>
              </a:rPr>
              <a:t>•  Chunking splits long documents into smaller passages that get embedded and stored in the vector database.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0F172A"/>
                </a:solidFill>
                <a:latin typeface="Arial"/>
              </a:rPr>
              <a:t>•  Fixed-size chunking cuts text every N tokens or characters, often with overlap so context isn't lost at boundaries.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0F172A"/>
                </a:solidFill>
                <a:latin typeface="Arial"/>
              </a:rPr>
              <a:t>•  Recursive splitting breaks text at natural separators like paragraphs and sentences until chunks fit a target size.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0F172A"/>
                </a:solidFill>
                <a:latin typeface="Arial"/>
              </a:rPr>
              <a:t>•  Structure-aware chunking follows document layout such as headings, sections, and tables so chunks stay topically coherent.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0F172A"/>
                </a:solidFill>
                <a:latin typeface="Arial"/>
              </a:rPr>
              <a:t>•  Smaller chunks improve retrieval precision; larger chunks preserve more context, so size and overlap need tuning.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F172A"/>
                </a:solidFill>
                <a:latin typeface="Arial"/>
              </a:rPr>
              <a:t>Evaluating RAG Answer Faithfulness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b="0">
                <a:solidFill>
                  <a:srgbClr val="0F172A"/>
                </a:solidFill>
                <a:latin typeface="Arial"/>
              </a:rPr>
              <a:t>•  Faithfulness checks whether every claim in an answer is supported by the retrieved context.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0F172A"/>
                </a:solidFill>
                <a:latin typeface="Arial"/>
              </a:rPr>
              <a:t>•  It differs from correctness: an answer can be true in general but unsupported by the provided sources.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0F172A"/>
                </a:solidFill>
                <a:latin typeface="Arial"/>
              </a:rPr>
              <a:t>•  A common method is claim decomposition: split the answer into atomic claims and verify each against the context.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0F172A"/>
                </a:solidFill>
                <a:latin typeface="Arial"/>
              </a:rPr>
              <a:t>•  Automatic approaches include NLI entailment models, LLM-as-a-judge prompts, and metrics such as RAGAS faithfulness.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0F172A"/>
                </a:solidFill>
                <a:latin typeface="Arial"/>
              </a:rPr>
              <a:t>•  Human review remains the gold standard for nuanced or high-stakes evaluations.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F172A"/>
                </a:solidFill>
                <a:latin typeface="Arial"/>
              </a:rPr>
              <a:t>Sources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Arial"/>
              </a:rPr>
              <a:t>Web research was not used for this deck.</a:t>
            </a:r>
          </a:p>
          <a:p>
            <a:r>
              <a:rPr sz="1600" b="0">
                <a:solidFill>
                  <a:srgbClr val="64748B"/>
                </a:solidFill>
                <a:latin typeface="Arial"/>
              </a:rPr>
              <a:t>Slide content reflects the drafting model's general knowledge.</a:t>
            </a:r>
          </a:p>
          <a:p>
            <a:r>
              <a:rPr sz="1600" b="0">
                <a:solidFill>
                  <a:srgbClr val="64748B"/>
                </a:solidFill>
                <a:latin typeface="Arial"/>
              </a:rPr>
              <a:t/>
            </a:r>
          </a:p>
          <a:p>
            <a:r>
              <a:rPr sz="1600" b="0">
                <a:solidFill>
                  <a:srgbClr val="64748B"/>
                </a:solidFill>
                <a:latin typeface="Arial"/>
              </a:rPr>
              <a:t>Review before teaching: automated content can contain errors.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